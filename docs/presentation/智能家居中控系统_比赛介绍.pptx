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b908e8414249b1" /><Relationship Type="http://schemas.openxmlformats.org/officeDocument/2006/relationships/extended-properties" Target="/docProps/app.xml" Id="Rbf7142cbe8294443" /><Relationship Type="http://schemas.openxmlformats.org/officeDocument/2006/relationships/officeDocument" Target="/ppt/presentation.xml" Id="R9275dc8afc4f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4488e9f8f4471"/>
  </p:sldMasterIdLst>
  <p:notesMasterIdLst>
    <p:notesMasterId xmlns:r="http://schemas.openxmlformats.org/officeDocument/2006/relationships" r:id="R78d52c4b869d441c"/>
  </p:notesMasterIdLst>
  <p:sldIdLst>
    <p:sldId xmlns:r="http://schemas.openxmlformats.org/officeDocument/2006/relationships" id="256" r:id="R30829561457a4873"/>
    <p:sldId xmlns:r="http://schemas.openxmlformats.org/officeDocument/2006/relationships" id="257" r:id="R1d5767a23b334fbc"/>
    <p:sldId xmlns:r="http://schemas.openxmlformats.org/officeDocument/2006/relationships" id="258" r:id="R7be8158d8c2d46ac"/>
    <p:sldId xmlns:r="http://schemas.openxmlformats.org/officeDocument/2006/relationships" id="259" r:id="R3c562437acda4138"/>
    <p:sldId xmlns:r="http://schemas.openxmlformats.org/officeDocument/2006/relationships" id="260" r:id="R8d2cf45da9204b8d"/>
    <p:sldId xmlns:r="http://schemas.openxmlformats.org/officeDocument/2006/relationships" id="261" r:id="R4a21043c44c54ac9"/>
    <p:sldId xmlns:r="http://schemas.openxmlformats.org/officeDocument/2006/relationships" id="262" r:id="R57da84a508f140ae"/>
    <p:sldId xmlns:r="http://schemas.openxmlformats.org/officeDocument/2006/relationships" id="263" r:id="R5d76999f9d824975"/>
    <p:sldId xmlns:r="http://schemas.openxmlformats.org/officeDocument/2006/relationships" id="264" r:id="R501fa82e05ed43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6422b72fc4c71" /><Relationship Type="http://schemas.openxmlformats.org/officeDocument/2006/relationships/slideMaster" Target="/ppt/slideMasters/slideMaster1.xml" Id="R9ce4488e9f8f4471" /><Relationship Type="http://schemas.openxmlformats.org/officeDocument/2006/relationships/notesMaster" Target="/ppt/notesMasters/notesMaster1.xml" Id="R78d52c4b869d441c" /><Relationship Type="http://schemas.openxmlformats.org/officeDocument/2006/relationships/presProps" Target="/ppt/presProps.xml" Id="R4756bf79852c4a12" /><Relationship Type="http://schemas.openxmlformats.org/officeDocument/2006/relationships/tableStyles" Target="/ppt/tableStyles.xml" Id="R89d5f0e1c59a4280" /><Relationship Type="http://schemas.openxmlformats.org/officeDocument/2006/relationships/slide" Target="/ppt/slides/slide1.xml" Id="R30829561457a4873" /><Relationship Type="http://schemas.openxmlformats.org/officeDocument/2006/relationships/slide" Target="/ppt/slides/slide2.xml" Id="R1d5767a23b334fbc" /><Relationship Type="http://schemas.openxmlformats.org/officeDocument/2006/relationships/slide" Target="/ppt/slides/slide3.xml" Id="R7be8158d8c2d46ac" /><Relationship Type="http://schemas.openxmlformats.org/officeDocument/2006/relationships/slide" Target="/ppt/slides/slide4.xml" Id="R3c562437acda4138" /><Relationship Type="http://schemas.openxmlformats.org/officeDocument/2006/relationships/slide" Target="/ppt/slides/slide5.xml" Id="R8d2cf45da9204b8d" /><Relationship Type="http://schemas.openxmlformats.org/officeDocument/2006/relationships/slide" Target="/ppt/slides/slide6.xml" Id="R4a21043c44c54ac9" /><Relationship Type="http://schemas.openxmlformats.org/officeDocument/2006/relationships/slide" Target="/ppt/slides/slide7.xml" Id="R57da84a508f140ae" /><Relationship Type="http://schemas.openxmlformats.org/officeDocument/2006/relationships/slide" Target="/ppt/slides/slide8.xml" Id="R5d76999f9d824975" /><Relationship Type="http://schemas.openxmlformats.org/officeDocument/2006/relationships/slide" Target="/ppt/slides/slide9.xml" Id="R501fa82e05ed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9bc66216864d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d7162ed7d409d" /><Relationship Type="http://schemas.openxmlformats.org/officeDocument/2006/relationships/notesMaster" Target="/ppt/notesMasters/notesMaster1.xml" Id="Rbf51247a90ca4d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6c756acb74cfd" /><Relationship Type="http://schemas.openxmlformats.org/officeDocument/2006/relationships/notesMaster" Target="/ppt/notesMasters/notesMaster1.xml" Id="R459cd7b99a0645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7aa9ae264457e" /><Relationship Type="http://schemas.openxmlformats.org/officeDocument/2006/relationships/notesMaster" Target="/ppt/notesMasters/notesMaster1.xml" Id="R9484358b1647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158b3298641ee" /><Relationship Type="http://schemas.openxmlformats.org/officeDocument/2006/relationships/notesMaster" Target="/ppt/notesMasters/notesMaster1.xml" Id="Re52d9a40bd74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9f326071004638" /><Relationship Type="http://schemas.openxmlformats.org/officeDocument/2006/relationships/notesMaster" Target="/ppt/notesMasters/notesMaster1.xml" Id="Rd2d8ae1e7fe848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36d993bde4d20" /><Relationship Type="http://schemas.openxmlformats.org/officeDocument/2006/relationships/notesMaster" Target="/ppt/notesMasters/notesMaster1.xml" Id="R266961d2ffc14d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ddb015dca4a9f" /><Relationship Type="http://schemas.openxmlformats.org/officeDocument/2006/relationships/notesMaster" Target="/ppt/notesMasters/notesMaster1.xml" Id="Rca7198f95246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bb9853aec4e60" /><Relationship Type="http://schemas.openxmlformats.org/officeDocument/2006/relationships/notesMaster" Target="/ppt/notesMasters/notesMaster1.xml" Id="R27bd70f756d147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64d55802364071" /><Relationship Type="http://schemas.openxmlformats.org/officeDocument/2006/relationships/notesMaster" Target="/ppt/notesMasters/notesMaster1.xml" Id="R63c60e0d3f31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00:00–00:10，10秒。</a:t>
            </a:r>
          </a:p>
          <a:p xmlns:a="http://schemas.openxmlformats.org/drawingml/2006/main">
            <a:r>
              <a:t>讲解：我们的作品是智能家居中控系统，面向数字家庭场景，响应人工智能应用与生活服务数字化方向。</a:t>
            </a:r>
          </a:p>
          <a:p xmlns:a="http://schemas.openxmlformats.org/drawingml/2006/main">
            <a:r>
              <a:t>画面：0至10秒展示PPT第1页。开场直接介绍作品与政策方向，不添加额外片头。</a:t>
            </a:r>
          </a:p>
          <a:p xmlns:a="http://schemas.openxmlformats.org/drawingml/2006/main">
            <a:r>
              <a:t>操作：保持封面静止，字幕标注作品名称与“Web应用软件原型”。</a:t>
            </a:r>
          </a:p>
          <a:p xmlns:a="http://schemas.openxmlformats.org/drawingml/2006/main">
            <a:r>
              <a:t>来源：用户提供赛道截图；public/index.html；政策来源 https://www.mee.gov.cn/zcwj/gwywj/202508/t20250827_1126207.shtml https://www.mee.gov.cn/zcwj/gwywj/202408/t20240806_1083436.shtml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00:10–00:28，18秒。</a:t>
            </a:r>
          </a:p>
          <a:p xmlns:a="http://schemas.openxmlformats.org/drawingml/2006/main">
            <a:r>
              <a:t>讲解：人工智能加行动支持智能助理和智能家居发展。服务消费政策提出数字家庭建设。我们的作品以浏览器为入口，面向家庭使用者，探索设备管理与生活提醒的统一交互。</a:t>
            </a:r>
          </a:p>
          <a:p xmlns:a="http://schemas.openxmlformats.org/drawingml/2006/main">
            <a:r>
              <a:t>画面：10至28秒展示PPT第2页。10至19秒讲政策方向，19至28秒讲作品对应的场景。</a:t>
            </a:r>
          </a:p>
          <a:p xmlns:a="http://schemas.openxmlformats.org/drawingml/2006/main">
            <a:r>
              <a:t>操作：政策名称保留在屏幕上。说“契合政策方向”，不说“获得政策认证”或“享受补贴”。</a:t>
            </a:r>
          </a:p>
          <a:p xmlns:a="http://schemas.openxmlformats.org/drawingml/2006/main">
            <a:r>
              <a:t>来源：https://www.mee.gov.cn/zcwj/gwywj/202508/t20250827_1126207.shtml；https://www.mee.gov.cn/zcwj/gwywj/202408/t20240806_1083436.shtml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00:28–00:48，20秒。</a:t>
            </a:r>
          </a:p>
          <a:p xmlns:a="http://schemas.openxmlformats.org/drawingml/2006/main">
            <a:r>
              <a:t>讲解：针对设备操作分散，系统提供统一状态界面。针对家务容易遗忘，提供计时和到点提醒。针对记录难回看，生成今日报告，天气信息则辅助安排晾晒和出行。</a:t>
            </a:r>
          </a:p>
          <a:p xmlns:a="http://schemas.openxmlformats.org/drawingml/2006/main">
            <a:r>
              <a:t>画面：28至48秒展示PPT第3页，按表格从上到下讲解，每行停留约5秒。</a:t>
            </a:r>
          </a:p>
          <a:p xmlns:a="http://schemas.openxmlformats.org/drawingml/2006/main">
            <a:r>
              <a:t>操作：对比的是典型手工管理方式，不泛化评价全部竞品；改善为设计目标，不报未测量的效率百分比。</a:t>
            </a:r>
          </a:p>
          <a:p xmlns:a="http://schemas.openxmlformats.org/drawingml/2006/main">
            <a:r>
              <a:t>来源：public/index.html；public/task-parser.js；services/daily-report.js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00:48–01:13，25秒。</a:t>
            </a:r>
          </a:p>
          <a:p xmlns:a="http://schemas.openxmlformats.org/drawingml/2006/main">
            <a:r>
              <a:t>讲解：这里登记了十八个设备。点击开关后，状态立即更新。模型验证通过后，也可以通过文字或语音发出指令，由数字管家反馈结果。目前展示的是软件设备状态控制。</a:t>
            </a:r>
          </a:p>
          <a:p xmlns:a="http://schemas.openxmlformats.org/drawingml/2006/main">
            <a:r>
              <a:t>画面：48至52秒展示PPT第4页；52至62秒录家电页客厅灯开关及反馈；62至73秒播放真实文本或语音指令和结果。</a:t>
            </a:r>
          </a:p>
          <a:p xmlns:a="http://schemas.openxmlformats.org/drawingml/2006/main">
            <a:r>
              <a:t>操作：录前完成模型验证并遮挡密钥。先手动打开客厅灯，再输入“关闭客厅灯”并确认状态。不支持语音时用文字。</a:t>
            </a:r>
          </a:p>
          <a:p xmlns:a="http://schemas.openxmlformats.org/drawingml/2006/main">
            <a:r>
              <a:t>来源：server.js DEVICE_DEFINITIONS、/api/interact、/api/toggle_device；public/avatar-2d.js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01:13–01:48，35秒。</a:t>
            </a:r>
          </a:p>
          <a:p xmlns:a="http://schemas.openxmlformats.org/drawingml/2006/main">
            <a:r>
              <a:t>讲解：输入二十秒后提醒我收衣服，系统就会建立倒计时。计时可以暂停、继续或调整。到点后，页面显示提醒，并在语音条件允许时播报。提醒通知用户行动，不代表系统替用户完成家务。</a:t>
            </a:r>
          </a:p>
          <a:p xmlns:a="http://schemas.openxmlformats.org/drawingml/2006/main">
            <a:r>
              <a:t>画面：73至76秒展示PPT第5页；76至83秒录输入和发送；83至103秒保留完整20秒倒计时；103至108秒停留到点提示。</a:t>
            </a:r>
          </a:p>
          <a:p xmlns:a="http://schemas.openxmlformats.org/drawingml/2006/main">
            <a:r>
              <a:t>操作：发送“20秒后提醒我收衣服”。网络等待可剪短并标注，20秒从建立任务后计算。不要在此镜头暂停或延长任务。</a:t>
            </a:r>
          </a:p>
          <a:p xmlns:a="http://schemas.openxmlformats.org/drawingml/2006/main">
            <a:r>
              <a:t>来源：public/task-parser.js；server.js scheduleTask、finishTask；services/task-alerts.js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01:48–02:08，20秒。</a:t>
            </a:r>
          </a:p>
          <a:p xmlns:a="http://schemas.openxmlformats.org/drawingml/2006/main">
            <a:r>
              <a:t>讲解：今日报告整理刚才的设备变化和提醒事件，方便回看。天气页提供预报，辅助安排晾晒和出行。天气依赖定位权限和外部服务，获取失败时会显示提示。</a:t>
            </a:r>
          </a:p>
          <a:p xmlns:a="http://schemas.openxmlformats.org/drawingml/2006/main">
            <a:r>
              <a:t>画面：108至111秒展示PPT第6页；111至120秒展示报告并放大阅读；120至128秒展示天气预报和更新时间。</a:t>
            </a:r>
          </a:p>
          <a:p xmlns:a="http://schemas.openxmlformats.org/drawingml/2006/main">
            <a:r>
              <a:t>操作：报告先刷新，展示实际操作记录。天气成功加载再录，失败则如实保留提示或使用标注日期的真实备用录屏。</a:t>
            </a:r>
          </a:p>
          <a:p xmlns:a="http://schemas.openxmlformats.org/drawingml/2006/main">
            <a:r>
              <a:t>来源：services/daily-report.js；public/report.js；public/app.js fetchWeather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02:08–02:26，18秒。</a:t>
            </a:r>
          </a:p>
          <a:p xmlns:a="http://schemas.openxmlformats.org/drawingml/2006/main">
            <a:r>
              <a:t>讲解：技术上，前端使用网页技术和浏览器语音接口。Node服务端请求模型，再用本地规则校验动作，执行后通过WebSocket同步状态，并把事件写入报告记录。</a:t>
            </a:r>
          </a:p>
          <a:p xmlns:a="http://schemas.openxmlformats.org/drawingml/2006/main">
            <a:r>
              <a:t>画面：128至146秒展示PPT第7页。依次指出前端、服务端和状态记录，不切代码编辑器。</a:t>
            </a:r>
          </a:p>
          <a:p xmlns:a="http://schemas.openxmlformats.org/drawingml/2006/main">
            <a:r>
              <a:t>操作：强调调用现有模型API，未自行训练大模型。天气由浏览器请求外部服务。</a:t>
            </a:r>
          </a:p>
          <a:p xmlns:a="http://schemas.openxmlformats.org/drawingml/2006/main">
            <a:r>
              <a:t>来源：package.json；server.js；services/llm-client.js；public/app.js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02:26–02:38，12秒。</a:t>
            </a:r>
          </a:p>
          <a:p xmlns:a="http://schemas.openxmlformats.org/drawingml/2006/main">
            <a:r>
              <a:t>讲解：项目使用npm和Git管理，提供容器与云端部署配置。现有九十四项自动化测试全部通过，真实账号和硬件接入仍需单独验证。</a:t>
            </a:r>
          </a:p>
          <a:p xmlns:a="http://schemas.openxmlformats.org/drawingml/2006/main">
            <a:r>
              <a:t>画面：146至158秒展示PPT第8页。测试数字停留全段，不滚动终端。</a:t>
            </a:r>
          </a:p>
          <a:p xmlns:a="http://schemas.openxmlformats.org/drawingml/2006/main">
            <a:r>
              <a:t>操作：测试依据为2026年10月21日 node --test，94通过、0失败。模型测试使用模拟传输，不代表真实平台认证通过。</a:t>
            </a:r>
          </a:p>
          <a:p xmlns:a="http://schemas.openxmlformats.org/drawingml/2006/main">
            <a:r>
              <a:t>来源：package.json；Dockerfile；render.yaml；tests/；本次node --test输出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02:38–03:00，22秒。</a:t>
            </a:r>
          </a:p>
          <a:p xmlns:a="http://schemas.openxmlformats.org/drawingml/2006/main">
            <a:r>
              <a:t>讲解：经济性方面，浏览器可以复用现有终端，一套Web界面便于维护；调用现有模型，也省去自建训练环节。后续成本仍包括模型调用、托管和硬件适配。作品适合先做小范围试点，再验证推广价值。</a:t>
            </a:r>
          </a:p>
          <a:p xmlns:a="http://schemas.openxmlformats.org/drawingml/2006/main">
            <a:r>
              <a:t>画面：158至176秒展示PPT第9页，逐行讲成本来源；176至180秒保留结尾，最后2秒不讲话。</a:t>
            </a:r>
          </a:p>
          <a:p xmlns:a="http://schemas.openxmlformats.org/drawingml/2006/main">
            <a:r>
              <a:t>操作：不虚构节电率、节省金额或盈利数据。补充口径：当前为原型，推广前需完成账号隔离、鉴权与真实设备适配。</a:t>
            </a:r>
          </a:p>
          <a:p xmlns:a="http://schemas.openxmlformats.org/drawingml/2006/main">
            <a:r>
              <a:t>来源：基于当前Web架构的定性成本分析；package.json；Dockerfile；services/llm-client.js</a:t>
            </a:r>
          </a:p>
          <a:p xmlns:a="http://schemas.openxmlformats.org/drawingml/2006/main">
            <a:r>
              <a:t>当前为软件原型。政策契合为作品定位分析，不代表官方认证。经济性为定性架构分析。截图来自隔离实例，未使用真实模型密钥。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c0892376848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90822215048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4247d167e4a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31b62f51a4a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638996d584b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1a3ff53f9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E9AE94-1860-4A86-BD4E-A6329081A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1C7E83-0208-4969-ACEC-9B0041F4F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FBB075-D9C3-40C8-85CA-2B4B89F97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2C08E5-2896-4F18-A14D-D8A74AAC6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73D645-8036-42B1-B33F-3B4E554D56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8C72FF-6FFC-48FC-9E17-81A56D13C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1F5B80-60DC-42DA-AECE-8DED10A9D3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03279A-8319-4003-B2FF-B497686BBC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779C4F-4EF6-4998-80D9-559C89DA6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DAF1F0-2635-4A56-B52D-98B0D241C5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2b140d7734a6c" /><Relationship Type="http://schemas.openxmlformats.org/officeDocument/2006/relationships/slideLayout" Target="/ppt/slideLayouts/slideLayout1.xml" Id="R6979046f0bfb4f30" /><Relationship Type="http://schemas.openxmlformats.org/officeDocument/2006/relationships/slideLayout" Target="/ppt/slideLayouts/slideLayout2.xml" Id="R1685622caa584953" /><Relationship Type="http://schemas.openxmlformats.org/officeDocument/2006/relationships/slideLayout" Target="/ppt/slideLayouts/slideLayout3.xml" Id="R5da94e0472a44e84" /><Relationship Type="http://schemas.openxmlformats.org/officeDocument/2006/relationships/slideLayout" Target="/ppt/slideLayouts/slideLayout4.xml" Id="R29a1e97e1e8146bc" /><Relationship Type="http://schemas.openxmlformats.org/officeDocument/2006/relationships/slideLayout" Target="/ppt/slideLayouts/slideLayout5.xml" Id="Rf2a03c1a0add463a" /><Relationship Type="http://schemas.openxmlformats.org/officeDocument/2006/relationships/slideLayout" Target="/ppt/slideLayouts/slideLayout6.xml" Id="R20791e626f56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9046f0bfb4f30"/>
    <p:sldLayoutId xmlns:r="http://schemas.openxmlformats.org/officeDocument/2006/relationships" id="2147483650" r:id="R1685622caa584953"/>
    <p:sldLayoutId xmlns:r="http://schemas.openxmlformats.org/officeDocument/2006/relationships" id="2147483651" r:id="R5da94e0472a44e84"/>
    <p:sldLayoutId xmlns:r="http://schemas.openxmlformats.org/officeDocument/2006/relationships" id="2147483652" r:id="R29a1e97e1e8146bc"/>
    <p:sldLayoutId xmlns:r="http://schemas.openxmlformats.org/officeDocument/2006/relationships" id="2147483653" r:id="Rf2a03c1a0add463a"/>
    <p:sldLayoutId xmlns:r="http://schemas.openxmlformats.org/officeDocument/2006/relationships" id="2147483654" r:id="R20791e626f56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6146133524ef8" /><Relationship Type="http://schemas.openxmlformats.org/officeDocument/2006/relationships/image" Target="/ppt/media/image.png" Id="Rf92b7d158465484a" /><Relationship Type="http://schemas.openxmlformats.org/officeDocument/2006/relationships/notesSlide" Target="/ppt/notesSlides/notesSlide1.xml" Id="R70ac2452722f4b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a5bc20df846a0" /><Relationship Type="http://schemas.openxmlformats.org/officeDocument/2006/relationships/notesSlide" Target="/ppt/notesSlides/notesSlide2.xml" Id="Rab72ee2957aa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09995e65a43e6" /><Relationship Type="http://schemas.openxmlformats.org/officeDocument/2006/relationships/notesSlide" Target="/ppt/notesSlides/notesSlide3.xml" Id="R8985acd5155343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48a04f09a42e2" /><Relationship Type="http://schemas.openxmlformats.org/officeDocument/2006/relationships/image" Target="/ppt/media/image2.png" Id="R5bbf66cb48fb4f0f" /><Relationship Type="http://schemas.openxmlformats.org/officeDocument/2006/relationships/notesSlide" Target="/ppt/notesSlides/notesSlide4.xml" Id="R66155d9626454d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c9e2ab9ff4e30" /><Relationship Type="http://schemas.openxmlformats.org/officeDocument/2006/relationships/image" Target="/ppt/media/image3.png" Id="R49d59153480e4bf8" /><Relationship Type="http://schemas.openxmlformats.org/officeDocument/2006/relationships/notesSlide" Target="/ppt/notesSlides/notesSlide5.xml" Id="R1c463e1005d4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1625291e5423e" /><Relationship Type="http://schemas.openxmlformats.org/officeDocument/2006/relationships/image" Target="/ppt/media/image4.png" Id="R6cb65860ab8f4c64" /><Relationship Type="http://schemas.openxmlformats.org/officeDocument/2006/relationships/notesSlide" Target="/ppt/notesSlides/notesSlide6.xml" Id="R3702d7c9ce6d43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6f94e1c4a4b6a" /><Relationship Type="http://schemas.openxmlformats.org/officeDocument/2006/relationships/notesSlide" Target="/ppt/notesSlides/notesSlide7.xml" Id="R206ab530cef74f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e2f39a3b649d2" /><Relationship Type="http://schemas.openxmlformats.org/officeDocument/2006/relationships/notesSlide" Target="/ppt/notesSlides/notesSlide8.xml" Id="R639bbd66d58b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90fb1af5840fe" /><Relationship Type="http://schemas.openxmlformats.org/officeDocument/2006/relationships/notesSlide" Target="/ppt/notesSlides/notesSlide9.xml" Id="Rcc372983a4bb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E6B32-D02A-4D17-9521-C197529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智能家居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中控系统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1CBA8-58B3-4CD0-8ADE-D95C6814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3D3DA"/>
                </a:solidFill>
                <a:latin typeface="Microsoft YaHei"/>
                <a:ea typeface="Microsoft YaHei"/>
                <a:cs typeface="Microsoft YaHei"/>
              </a:rPr>
              <a:t>面向数字家庭的Web应用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4952-E8BF-45EB-9022-809A272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rPr>
              <a:t>响应人工智能应用</a:t>
            </a:r>
          </a:p>
          <a:p xmlns:a="http://schemas.openxmlformats.org/drawingml/2006/main">
            <a:pPr>
              <a:def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CEBF2"/>
                </a:solidFill>
                <a:latin typeface="Microsoft YaHei"/>
                <a:ea typeface="Microsoft YaHei"/>
                <a:cs typeface="Microsoft YaHei"/>
              </a:rPr>
              <a:t>与生活服务数字化方向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E920B-6F6D-4BAA-A768-86423717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rPr>
              <a:t>移动与网络应用开发类赛项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D6E39-0448-4AB6-A14F-EF477FB7C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b7d158465484a"/>
          <a:stretch xmlns:a="http://schemas.openxmlformats.org/drawingml/2006/main"/>
        </p:blipFill>
        <p:spPr>
          <a:xfrm xmlns:a="http://schemas.openxmlformats.org/drawingml/2006/main">
            <a:off x="8477250" y="1204904"/>
            <a:ext cx="3048000" cy="425769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8A289-C1F0-4F57-BB1D-15499A5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BC8D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3299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C6878-AC72-4750-99BE-4119510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政策方向与作品定位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3FAB2-EC2B-4AE6-9756-E0DB23F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把政策方向落实到居家交互场景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2242E-D099-4AE7-AB5F-0522622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2025  “人工智能+”行动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C2D4F-EF44-492A-9A93-70445F75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支持智能助理服务入口</a:t>
            </a:r>
          </a:p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发展智能家居交互环境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D9FE-F99F-43A0-B097-2FC22CC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作品对应</a:t>
            </a:r>
          </a:p>
          <a:p xmlns:a="http://schemas.openxmlformats.org/drawingml/2006/main">
            <a: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文字与语音指令、数字管家反馈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3AB34-9F8C-4350-B500-89C5E2F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2024  服务消费高质量发展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D22D4-2041-47C7-8A69-26EE8AB2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推进数字家庭建设</a:t>
            </a:r>
          </a:p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满足家居智能化服务需求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C317E-C097-49B7-86D8-4E6BD212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作品对应</a:t>
            </a:r>
          </a:p>
          <a:p xmlns:a="http://schemas.openxmlformats.org/drawingml/2006/main">
            <a:pPr>
              <a:def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设备状态、生活提醒与报告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D9AF0-2301-4F8E-8247-13C5793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依据：国务院《关于深入实施“人工智能+”行动的意见》国发〔2025〕11号</a:t>
            </a:r>
          </a:p>
          <a:p xmlns:a="http://schemas.openxmlformats.org/drawingml/2006/main">
            <a:pPr>
              <a:def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国务院《关于促进服务消费高质量发展的意见》国发〔2024〕18号；官方链接见备注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E5B5B-11F7-4445-8A32-2A5CEE8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7390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437A1-9CE2-4962-9F9F-004644A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现实问题与功能改善对比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0069E-AFCB-4203-B24E-BEE9268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目标用户：需要管理设备与家务的家庭使用者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6CF94-BDA9-47C6-8AA4-033CE7CFEFE0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191000"/>
                <a:gridCol w="2857500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典型生活问题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作品提供的功能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预期改善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设备入口分散，状态需逐项确认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18个设备状态与统一控制入口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集中查看操作结果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靠记忆安排家务，容易漏掉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计时、指定钟点与到点提醒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明确下一步该做什么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记录分散，天气需另行查看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今日报告与天气信息页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方便回看和安排生活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EE2A1-3D7D-48C7-B000-504969C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对比对象为典型手工管理方式；改善为设计目标，尚无用户对照实验。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B10B6-FB53-446C-9769-237BEDB9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422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F9264-31EE-4935-90F4-048F29A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家电控制与数字管家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688DB-1E06-4A24-A7C0-A3BB93C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18个登记设备，一处查看状态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6B782-5855-4DAA-AD2B-C1BF18D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手动开关与自然语言输入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C605-0B9F-4A64-A8F9-FAE99741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数字管家提供文字和语音反馈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54747-9CF3-4E31-BA3A-1CD0CB0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当前控制对象为软件设备状态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D3EF3-B52C-453C-9545-9D528AEF6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f66cb48fb4f0f"/>
          <a:stretch xmlns:a="http://schemas.openxmlformats.org/drawingml/2006/main"/>
        </p:blipFill>
        <p:spPr>
          <a:xfrm xmlns:a="http://schemas.openxmlformats.org/drawingml/2006/main">
            <a:off x="4334828" y="1476375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86B0E-5ABC-42B7-A6E7-CC2AD74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10552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软件设备状态演示；真实家电接入仍待实现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C465E-7D8D-46A1-9644-ED9E459E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6395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888AF-A504-489B-B60A-992BFD5C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任务计时与到点提醒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B8629-9964-43A1-B7B2-B16CCDEA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把“怕忘记”变成可见的倒计时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94D73-AFE6-454A-9313-5B541EC3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支持相对时间与指定钟点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31A75-F77D-42FB-837C-C731DC0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可暂停、继续与调整时间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E8FB0-B1DA-4312-8DB7-BE20813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到点提醒，不代替完成家务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8C7B6-B413-4B0A-9468-CC0E6A7BC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59153480e4bf8"/>
          <a:stretch xmlns:a="http://schemas.openxmlformats.org/drawingml/2006/main"/>
        </p:blipFill>
        <p:spPr>
          <a:xfrm xmlns:a="http://schemas.openxmlformats.org/drawingml/2006/main">
            <a:off x="4334828" y="1476375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F7759-59A3-41FD-8160-0262E3E1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10552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隔离实例的演示任务；正式视频演示20秒提醒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F052E-EE82-4365-A57F-7CE824C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9053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168F-E1CD-4AF9-AE1E-0956C993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今日报告与天气辅助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E87C6-E98F-429D-8019-6A4CA8B6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操作有记录，生活安排有参考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2FDAF-0905-476B-8E3D-7537469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报告汇总设备与任务提醒事件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4473F-5C9E-424C-A7FD-B03C634A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可刷新、放大阅读与语音播报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73CAB-D9FF-414D-9945-3E4E4A6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逐小时气温与7天天气预报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8FAB7-C73E-4378-BF88-EAB0184B2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65860ab8f4c64"/>
          <a:stretch xmlns:a="http://schemas.openxmlformats.org/drawingml/2006/main"/>
        </p:blipFill>
        <p:spPr>
          <a:xfrm xmlns:a="http://schemas.openxmlformats.org/drawingml/2006/main">
            <a:off x="4334828" y="1476375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B737-B6C8-4149-8831-4F71CB01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10552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隔离实例中的演示记录；正式视频展示本次操作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B5286-F309-4412-8BB1-57F5138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206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E3A4C-5079-4854-848C-B21B6D4B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技术架构与处理流程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1D237-7228-4C11-8C7A-7813CFEE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输入、校验、执行、同步和记录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43208-A7DE-49F0-BC0F-21340D9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前端交互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B572F-8724-4688-B5E1-74DDA4C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852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HTML、CSS、JavaScript与浏览器语音API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9FBCB-0559-44F8-BA4A-EB26C6C5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模型请求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7CBB5-87BA-49DD-A039-141C897E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852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Node.js与Express处理请求，模型返回JSON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588F5-34FE-4665-9A96-0214CF1D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规则执行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ED3D8-B5DE-4683-ADC2-1EF40FBF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852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本地规则校验设备与任务后执行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B4273-58F8-4BDE-AD0B-6C7DC92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同步与记录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82C16-6F58-4413-87AD-C7779674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852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WebSocket同步状态，JSON文件保存事件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6C53D-4DD3-409B-95E9-03D4AC7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模型平台：DeepSeek / 通义千问 / 豆包；天气：Open-Meteo；数字管家：二维SVG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E240C-75F5-4DC6-88FF-97C908D4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6348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5F1F3-3406-48E7-98C6-6ED45E7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开发工具与验证依据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97DAC-2BB2-40A2-ABE5-54F67006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可运行版本与测试说明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02E56-77EC-45EB-93A5-99ED303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94 / 94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0803F-7760-4F0F-98F1-C79C44A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现有自动化测试通过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BF5F3-BF67-42CB-83AE-FD4C63C3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2026年10月21日  node --test</a:t>
            </a:r>
          </a:p>
          <a:p xmlns:a="http://schemas.openxmlformats.org/drawingml/2006/main">
            <a:pPr>
              <a:def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模拟模型传输，不替代真实账号与硬件实测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43BC5-6806-4B28-8AE8-8FDCD69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23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npm  依赖管理</a:t>
            </a:r>
          </a:p>
          <a:p xmlns:a="http://schemas.openxmlformats.org/drawingml/2006/main">
            <a: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Git / GitHub  版本管理</a:t>
            </a:r>
          </a:p>
          <a:p xmlns:a="http://schemas.openxmlformats.org/drawingml/2006/main">
            <a: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Docker / Render配置  部署准备</a:t>
            </a:r>
          </a:p>
          <a:p xmlns:a="http://schemas.openxmlformats.org/drawingml/2006/main">
            <a:pPr>
              <a:def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node:test  自动化验证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467C5-1957-48E9-9714-B6338A3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推广前完善用户鉴权、用户隔离与硬件适配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DBB69-C4B1-4807-B542-7DDA00F7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5381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A00B6-3FAD-43BC-9A87-01CA3E54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64D"/>
                </a:solidFill>
                <a:latin typeface="Microsoft YaHei"/>
                <a:ea typeface="Microsoft YaHei"/>
                <a:cs typeface="Microsoft YaHei"/>
              </a:rPr>
              <a:t>经济性与推广优势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B0297-8380-4E46-BB38-2ABC4BC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先验证软件流程，再投入硬件接入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0EDA4-76C6-49A0-8C3E-F3ED40402762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29125"/>
                <a:gridCol w="4048125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成本环节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当前架构的优势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仍需计入的成本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7364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终端与维护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复用浏览器终端，一套Web界面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设备兼容与维护工时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调用现有模型，无需自建训练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API调用与网络费用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试点与推广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软件先行，可分阶段验证需求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托管、存储与硬件适配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C459F-9B92-4FAF-89A0-4C073165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易接入、便于迭代，适合小范围试点验证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CB6A-3BE9-4783-BA5C-A223F98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283"/>
                </a:solidFill>
                <a:latin typeface="Microsoft YaHei"/>
                <a:ea typeface="Microsoft YaHei"/>
                <a:cs typeface="Microsoft YaHei"/>
              </a:rPr>
              <a:t>以上为定性架构分析，尚无节省金额、节电率或收益实测数据。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1BBFB-835B-4866-B6EA-9EDAEC3B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43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8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0790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2026-10-21T06:12:46.4230000Z</dcterms:created>
  <dcterms:modified xsi:type="dcterms:W3CDTF">2026-10-21T06:12:46.4230000Z</dcterms:modified>
</coreProperties>
</file>